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DC0FB"/>
                </a:solidFill>
                <a:latin typeface="Calibri"/>
              </a:rPr>
              <a:t>PROYECTO DE ANÁLISIS DE CONVOCATORIAS LABORALES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Calibri"/>
              </a:rPr>
              <a:t>PostulaIA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9D6EC"/>
                </a:solidFill>
                <a:latin typeface="Calibri"/>
              </a:rPr>
              <a:t>Agente que analiza convocatorias en PDF y responde preguntas con evidencia citada.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709160"/>
            <a:ext cx="1463040" cy="2743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C0FB"/>
                </a:solidFill>
                <a:latin typeface="Calibri"/>
              </a:rPr>
              <a:t>Equipo PostulaIA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303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Miguel Champi  ·  Rodrigo 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67A"/>
                </a:solidFill>
                <a:latin typeface="Calibri"/>
              </a:rPr>
              <a:t>MVP local · sin API keys · sin costo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457200" cy="7315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233F"/>
                </a:solidFill>
                <a:latin typeface="Calibri"/>
              </a:rPr>
              <a:t>Leer convocatorias es lento y fácil de malinterpretar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63093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72033"/>
                </a:solidFill>
                <a:latin typeface="Calibri"/>
              </a:rPr>
              <a:t>•  Las convocatorias laborales suelen tener 5 a 15 páginas con requisitos, cronogramas, condiciones y exclusiones dispersos en el texto.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72033"/>
                </a:solidFill>
                <a:latin typeface="Calibri"/>
              </a:rPr>
              <a:t>•  Un postulante puede pasar por alto una fecha límite, un documento obligatorio o una causal de descalificación escrita en letra pequeña.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72033"/>
                </a:solidFill>
                <a:latin typeface="Calibri"/>
              </a:rPr>
              <a:t>•  Revisar manualmente cada convocatoria toma tiempo y no siempre queda claro en qué página se sustenta cada requisito.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450">
                <a:solidFill>
                  <a:srgbClr val="172033"/>
                </a:solidFill>
                <a:latin typeface="Calibri"/>
              </a:rPr>
              <a:t>•  Las herramientas de IA genéricas responden sin citar la fuente exacta, lo que dificulta verificar si la respuesta es correcta.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965960"/>
            <a:ext cx="4206240" cy="3840480"/>
          </a:xfrm>
          <a:prstGeom prst="rect">
            <a:avLst/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2240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769E0"/>
                </a:solidFill>
                <a:latin typeface="Calibri"/>
              </a:rPr>
              <a:t>COSTO DE UN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697480"/>
            <a:ext cx="36576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72033"/>
                </a:solidFill>
                <a:latin typeface="Calibri"/>
              </a:rPr>
              <a:t>Perder una postulación por no presentar un documento a tiempo, o por no cumplir un requisito excluyente que pasó desapercibido en el texto.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67A"/>
                </a:solidFill>
                <a:latin typeface="Calibri"/>
              </a:rPr>
              <a:t>PostulaIA — Agente de Postulación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6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457200" cy="7315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3233F"/>
                </a:solidFill>
                <a:latin typeface="Calibri"/>
              </a:rPr>
              <a:t>Un agente local que lee, analiza y responde con evidencia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5C667A"/>
                </a:solidFill>
                <a:latin typeface="Calibri"/>
              </a:rPr>
              <a:t>PostulaIA procesa el PDF localmente y estructura la información clave del proceso.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337560" cy="1965960"/>
          </a:xfrm>
          <a:prstGeom prst="rect">
            <a:avLst/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331720"/>
            <a:ext cx="73152" cy="1965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146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3233F"/>
                </a:solidFill>
                <a:latin typeface="Calibri"/>
              </a:rPr>
              <a:t>Extracción por página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1752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72033"/>
                </a:solidFill>
                <a:latin typeface="Calibri"/>
              </a:rPr>
              <a:t>Lee el PDF y conserva el número de página de cada fragmento de texto.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331720"/>
            <a:ext cx="3337560" cy="1965960"/>
          </a:xfrm>
          <a:prstGeom prst="rect">
            <a:avLst/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331720"/>
            <a:ext cx="73152" cy="1965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5146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3233F"/>
                </a:solidFill>
                <a:latin typeface="Calibri"/>
              </a:rPr>
              <a:t>Análisis estructurado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301752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72033"/>
                </a:solidFill>
                <a:latin typeface="Calibri"/>
              </a:rPr>
              <a:t>Detecta requisitos, fechas, condiciones laborales y exclusiones.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2331720"/>
            <a:ext cx="3337560" cy="1965960"/>
          </a:xfrm>
          <a:prstGeom prst="rect">
            <a:avLst/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2331720"/>
            <a:ext cx="73152" cy="1965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2" y="251460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3233F"/>
                </a:solidFill>
                <a:latin typeface="Calibri"/>
              </a:rPr>
              <a:t>Alertas de lectura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432" y="301752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72033"/>
                </a:solidFill>
                <a:latin typeface="Calibri"/>
              </a:rPr>
              <a:t>Resalta causales de descalificación y plazos críticos.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26280"/>
            <a:ext cx="3337560" cy="1965960"/>
          </a:xfrm>
          <a:prstGeom prst="rect">
            <a:avLst/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526280"/>
            <a:ext cx="73152" cy="1965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7091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3233F"/>
                </a:solidFill>
                <a:latin typeface="Calibri"/>
              </a:rPr>
              <a:t>Preguntas con evidencia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21208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72033"/>
                </a:solidFill>
                <a:latin typeface="Calibri"/>
              </a:rPr>
              <a:t>Responde consultas citando la página exacta, ej. [p. 2].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526280"/>
            <a:ext cx="3337560" cy="1965960"/>
          </a:xfrm>
          <a:prstGeom prst="rect">
            <a:avLst/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4526280"/>
            <a:ext cx="73152" cy="1965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2272" y="47091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3233F"/>
                </a:solidFill>
                <a:latin typeface="Calibri"/>
              </a:rPr>
              <a:t>Historial local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521208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72033"/>
                </a:solidFill>
                <a:latin typeface="Calibri"/>
              </a:rPr>
              <a:t>Guarda preguntas y respuestas en una base SQLite local.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0" y="4526280"/>
            <a:ext cx="3337560" cy="1965960"/>
          </a:xfrm>
          <a:prstGeom prst="rect">
            <a:avLst/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772400" y="4526280"/>
            <a:ext cx="73152" cy="19659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2" y="47091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3233F"/>
                </a:solidFill>
                <a:latin typeface="Calibri"/>
              </a:rPr>
              <a:t>IA opcional con Ollama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2" y="5212080"/>
            <a:ext cx="2880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172033"/>
                </a:solidFill>
                <a:latin typeface="Calibri"/>
              </a:rPr>
              <a:t>Mejora la redacción de respuestas sin enviar datos a la nube.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67A"/>
                </a:solidFill>
                <a:latin typeface="Calibri"/>
              </a:rPr>
              <a:t>PostulaIA — Agente de Postulación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6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457200" cy="7315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Calibri"/>
              </a:rPr>
              <a:t>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Del PDF a una respuesta verificable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97486" y="2514600"/>
            <a:ext cx="1874519" cy="1051560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PDF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72005" y="2951480"/>
            <a:ext cx="256032" cy="177800"/>
          </a:xfrm>
          <a:prstGeom prst="rightArrow">
            <a:avLst/>
          </a:prstGeom>
          <a:solidFill>
            <a:srgbClr val="9DC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28037" y="2514600"/>
            <a:ext cx="1874519" cy="105156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Extracción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por página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902556" y="2951480"/>
            <a:ext cx="256032" cy="177800"/>
          </a:xfrm>
          <a:prstGeom prst="rightArrow">
            <a:avLst/>
          </a:prstGeom>
          <a:solidFill>
            <a:srgbClr val="9DC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58588" y="2514600"/>
            <a:ext cx="1874519" cy="105156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Análisis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(requisitos y alertas)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33107" y="2951480"/>
            <a:ext cx="256032" cy="177800"/>
          </a:xfrm>
          <a:prstGeom prst="rightArrow">
            <a:avLst/>
          </a:prstGeom>
          <a:solidFill>
            <a:srgbClr val="9DC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89139" y="2514600"/>
            <a:ext cx="1874519" cy="105156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Índice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léxico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163658" y="2951480"/>
            <a:ext cx="256032" cy="177800"/>
          </a:xfrm>
          <a:prstGeom prst="rightArrow">
            <a:avLst/>
          </a:prstGeom>
          <a:solidFill>
            <a:srgbClr val="9DC0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19690" y="2514600"/>
            <a:ext cx="1874519" cy="1051560"/>
          </a:xfrm>
          <a:prstGeom prst="rect">
            <a:avLst/>
          </a:prstGeom>
          <a:solidFill>
            <a:srgbClr val="1E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Respuesta con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evidencia citada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486" y="4023360"/>
            <a:ext cx="10396723" cy="777240"/>
          </a:xfrm>
          <a:prstGeom prst="roundRect">
            <a:avLst/>
          </a:prstGeom>
          <a:solidFill>
            <a:srgbClr val="1E3A63"/>
          </a:solidFill>
          <a:ln w="12700">
            <a:solidFill>
              <a:srgbClr val="176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i="1">
                <a:solidFill>
                  <a:srgbClr val="9DC0FB"/>
                </a:solidFill>
              </a:rPr>
              <a:t>Ollama local (opcional) mejora la redacción de la respuesta 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C667A"/>
                </a:solidFill>
                <a:latin typeface="Calibri"/>
              </a:rPr>
              <a:t>Todo el procesamiento ocurre en la máquina local. El PDF no se envía a servicios externos.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67A"/>
                </a:solidFill>
                <a:latin typeface="Calibri"/>
              </a:rPr>
              <a:t>PostulaIA — Agente de Postulación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6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457200" cy="73152"/>
          </a:xfrm>
          <a:prstGeom prst="rect">
            <a:avLst/>
          </a:prstGeom>
          <a:solidFill>
            <a:srgbClr val="176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Calibri"/>
              </a:rPr>
              <a:t>ESTADO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233F"/>
                </a:solidFill>
                <a:latin typeface="Calibri"/>
              </a:rPr>
              <a:t>Resultados y próximos pasos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120640" cy="4114800"/>
          </a:xfrm>
          <a:prstGeom prst="rect">
            <a:avLst/>
          </a:prstGeom>
          <a:solidFill>
            <a:srgbClr val="ED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769E0"/>
                </a:solidFill>
                <a:latin typeface="Calibri"/>
              </a:rPr>
              <a:t>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5720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172033"/>
                </a:solidFill>
                <a:latin typeface="Calibri"/>
              </a:rPr>
              <a:t>•  MVP funcional en Streamlit, 100% local y sin API keys.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172033"/>
                </a:solidFill>
                <a:latin typeface="Calibri"/>
              </a:rPr>
              <a:t>•  Extracción y análisis automático de requisitos, fechas, condiciones y exclusiones desde PDF.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172033"/>
                </a:solidFill>
                <a:latin typeface="Calibri"/>
              </a:rPr>
              <a:t>•  Respuestas a preguntas con cita de página como evidencia verificable.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172033"/>
                </a:solidFill>
                <a:latin typeface="Calibri"/>
              </a:rPr>
              <a:t>•  3 convocatorias de ejemplo (TI, administrativo y salud) para pruebas y demostración.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172033"/>
                </a:solidFill>
                <a:latin typeface="Calibri"/>
              </a:rPr>
              <a:t>•  Suite de pruebas automatizadas (pytest) para el flujo de análisis.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920240"/>
            <a:ext cx="5486400" cy="4114800"/>
          </a:xfrm>
          <a:prstGeom prst="rect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148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9DC0FB"/>
                </a:solidFill>
                <a:latin typeface="Calibri"/>
              </a:rPr>
              <a:t>PRÓXIMOS PASOS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606040"/>
            <a:ext cx="49377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Soporte OCR para convocatorias escaneadas sin texto seleccionable.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Comparar varias convocatorias en paralelo dentro de una sola sesión.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Exportar el resumen del análisis a PDF o Word.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Empaquetar el modo Ollama con un instalador guiado para el usuario final.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350">
                <a:solidFill>
                  <a:srgbClr val="FFFFFF"/>
                </a:solidFill>
                <a:latin typeface="Calibri"/>
              </a:rPr>
              <a:t>•  Recolectar retroalimentación de postulantes reales para priorizar mejoras.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67A"/>
                </a:solidFill>
                <a:latin typeface="Calibri"/>
              </a:rPr>
              <a:t>PostulaIA — Agente de Postulación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6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